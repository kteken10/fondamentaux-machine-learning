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635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FFFFFF"/>
                </a:solidFill>
                <a:latin typeface="Calibri"/>
              </a:rPr>
              <a:t>FraudAI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FFFFFF"/>
                </a:solidFill>
                <a:latin typeface="Calibri"/>
              </a:rPr>
              <a:t>Détection de fraude aux remboursements de santé (CPAM)</a:t>
            </a:r>
          </a:p>
          <a:p>
            <a:r>
              <a:rPr sz="1600" b="0" i="1">
                <a:solidFill>
                  <a:srgbClr val="F97316"/>
                </a:solidFill>
                <a:latin typeface="Calibri"/>
              </a:rPr>
              <a:t>L'IA aide l'agent — la décision finale reste humaine.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Calibri"/>
              </a:rPr>
              <a:t>DISSANG TENKAM Francis Kevin   ·   JEHRRY Jules</a:t>
            </a:r>
          </a:p>
          <a:p>
            <a:r>
              <a:rPr sz="1300" b="0" i="0">
                <a:solidFill>
                  <a:srgbClr val="94A3B8"/>
                </a:solidFill>
                <a:latin typeface="Calibri"/>
              </a:rPr>
              <a:t>Projet Fil Rouge — MSc Machine Learning, EPITA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Calibri"/>
              </a:rPr>
              <a:t>1 · CONTEXTE</a:t>
            </a:r>
          </a:p>
          <a:p>
            <a:r>
              <a:rPr sz="3000" b="1" i="0">
                <a:solidFill>
                  <a:srgbClr val="0F172A"/>
                </a:solidFill>
                <a:latin typeface="Calibri"/>
              </a:rPr>
              <a:t>La fraude aux finances publiques : un enjeu national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1463040" cy="508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Calibri"/>
              </a:rPr>
              <a:t>FraudAI — Détection de fraude CPAM · MSc Machine Learning EPITA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~20 Md€ de fraudes détectées en 2024 en France (2× le budget de la Justice).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Objectif gouvernemental : 40 Md€ détectés par an d'ici 2029 (Plan 2023-2027).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Assurance Maladie : 723 M€ de fraude détectée en 2025 (+15 %).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Mondial : +194 % de tentatives de fraude utilisant l'IA en 2024 vs 2023.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Pourquoi la CPAM : enjeu financier fort · données ultra-sensibles (gouvernance maximale) · coût humain du faux positif (suspecter à tort un assuré).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Calibri"/>
              </a:rPr>
              <a:t>2 · PROBLÈME CHOISI</a:t>
            </a:r>
          </a:p>
          <a:p>
            <a:r>
              <a:rPr sz="3000" b="1" i="0">
                <a:solidFill>
                  <a:srgbClr val="0F172A"/>
                </a:solidFill>
                <a:latin typeface="Calibri"/>
              </a:rPr>
              <a:t>Du dataset bancaire au cas CPAM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1463040" cy="508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Calibri"/>
              </a:rPr>
              <a:t>FraudAI — Détection de fraude CPAM · MSc Machine Learning EPITA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Dataset ULB (284 807 transactions, 0,17 % de fraude) = proxy anonymisé d'un flux de remboursements.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Transposition explicite 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64748B"/>
                </a:solidFill>
                <a:latin typeface="Calibri"/>
              </a:rPr>
              <a:t>–  Amount → montant remboursé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64748B"/>
                </a:solidFill>
                <a:latin typeface="Calibri"/>
              </a:rPr>
              <a:t>–  V1–V28 (ACP) → profil anonymisé (secret médical / RGPD)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64748B"/>
                </a:solidFill>
                <a:latin typeface="Calibri"/>
              </a:rPr>
              <a:t>–  Class → fraude avérée après contrôle d'un agent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Problème métier : prioriser automatiquement les dossiers à risque, augmenter la détection, réduire les contrôles inutiles — sans déléguer la décision.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Calibri"/>
              </a:rPr>
              <a:t>3 · VALEUR MÉTIER</a:t>
            </a:r>
          </a:p>
          <a:p>
            <a:r>
              <a:rPr sz="3000" b="1" i="0">
                <a:solidFill>
                  <a:srgbClr val="0F172A"/>
                </a:solidFill>
                <a:latin typeface="Calibri"/>
              </a:rPr>
              <a:t>Business Case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1463040" cy="508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Calibri"/>
              </a:rPr>
              <a:t>FraudAI — Détection de fraude CPAM · MSc Machine Learning EPITA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2526030" cy="1280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F97316"/>
                </a:solidFill>
                <a:latin typeface="Calibri"/>
              </a:rPr>
              <a:t>80,0 %</a:t>
            </a:r>
          </a:p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Recall (cible ≥ 80 %)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6150" y="1828800"/>
            <a:ext cx="2526030" cy="1280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F172A"/>
                </a:solidFill>
                <a:latin typeface="Calibri"/>
              </a:rPr>
              <a:t>83,5 %</a:t>
            </a:r>
          </a:p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Précision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0780" y="1828800"/>
            <a:ext cx="2526030" cy="1280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F172A"/>
                </a:solidFill>
                <a:latin typeface="Calibri"/>
              </a:rPr>
              <a:t>0,835</a:t>
            </a:r>
          </a:p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AUC-PR</a:t>
            </a:r>
          </a:p>
        </p:txBody>
      </p:sp>
      <p:sp>
        <p:nvSpPr>
          <p:cNvPr id="9" name="Rectangle 8"/>
          <p:cNvSpPr/>
          <p:nvPr/>
        </p:nvSpPr>
        <p:spPr>
          <a:xfrm>
            <a:off x="8995410" y="1828800"/>
            <a:ext cx="2526030" cy="1280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F172A"/>
                </a:solidFill>
                <a:latin typeface="Calibri"/>
              </a:rPr>
              <a:t>700 k€</a:t>
            </a:r>
          </a:p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Budget pilote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Projet pilote : 700 k€ sur 8 mois (équipe, données, modèle, interface, conformité).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ROI sur 3 ans ≈ ×7,8 (hypothèses conservatrices, présentées comme cadrage).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KPI institutionnels visés : Recall ≥ 80 % · taux de faux positifs maîtrisé · gain de temps agents.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Calibri"/>
              </a:rPr>
              <a:t>4 · DATA UNDERSTANDING</a:t>
            </a:r>
          </a:p>
          <a:p>
            <a:r>
              <a:rPr sz="3000" b="1" i="0">
                <a:solidFill>
                  <a:srgbClr val="0F172A"/>
                </a:solidFill>
                <a:latin typeface="Calibri"/>
              </a:rPr>
              <a:t>Données &amp; analyse exploratoire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1463040" cy="508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Calibri"/>
              </a:rPr>
              <a:t>FraudAI — Détection de fraude CPAM · MSc Machine Learning EPITA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284 807 → 283 726 transactions après retrait de 1 081 doublons (anti-fuite train/test).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Déséquilibre extrême : 1 fraude pour ~600 → métriques adaptées (AUC-PR, Recall), pas l'accuracy.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Montant médian des fraudes : 9,82 € vs 22,00 € (signature des tests de petits montants).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Variables les plus discriminantes : V14, V10, V12, V4 (interprétées via SHAP, car anonymisées).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Calibri"/>
              </a:rPr>
              <a:t>5 · PIPELINE ML</a:t>
            </a:r>
          </a:p>
          <a:p>
            <a:r>
              <a:rPr sz="3000" b="1" i="0">
                <a:solidFill>
                  <a:srgbClr val="0F172A"/>
                </a:solidFill>
                <a:latin typeface="Calibri"/>
              </a:rPr>
              <a:t>Méthodologie rigoureuse — anti-fuite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1463040" cy="508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Calibri"/>
              </a:rPr>
              <a:t>FraudAI — Détection de fraude CPAM · MSc Machine Learning EPITA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Split stratifié train / validation / test = 60 / 20 / 20, AVANT toute transformation.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Normalisation (StandardScaler) ajustée sur le train uniquement ; SMOTE testé sur le train seul.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Stratégie, modèle champion ET seuils choisis sur la VALIDATION.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Métriques finales mesurées une seule fois sur le TEST jamais touché.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Pipeline rendu déterministe (n_jobs=1) → chiffres parfaitement reproductibles.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Calibri"/>
              </a:rPr>
              <a:t>5 · RIGUEUR (POINT CLÉ)</a:t>
            </a:r>
          </a:p>
          <a:p>
            <a:r>
              <a:rPr sz="3000" b="1" i="0">
                <a:solidFill>
                  <a:srgbClr val="0F172A"/>
                </a:solidFill>
                <a:latin typeface="Calibri"/>
              </a:rPr>
              <a:t>Ce que notre audit interne a révélé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1463040" cy="508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Calibri"/>
              </a:rPr>
              <a:t>FraudAI — Détection de fraude CPAM · MSc Machine Learning EPITA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Piège 1 — double-correction : SMOTE + class_weight → seuil pathologique (~1,0). Comparé et écarté.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Piège 2 — fuite de seuil : régler le seuil sur le test donnait un « 80 % » à 97 % de précision… illusoire.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Corrigé via le jeu de validation → résultat HONNÊTE 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64748B"/>
                </a:solidFill>
                <a:latin typeface="Calibri"/>
              </a:rPr>
              <a:t>–  Recall 80,0 % au prix d'une précision de 83,5 % (15 FP sur 56 746 transactions de test).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« Nous avons audité notre propre travail : le premier 80 % était surévalué. Voici le vrai chiffre, défendable.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Calibri"/>
              </a:rPr>
              <a:t>5 · ÉVALUATION</a:t>
            </a:r>
          </a:p>
          <a:p>
            <a:r>
              <a:rPr sz="3000" b="1" i="0">
                <a:solidFill>
                  <a:srgbClr val="0F172A"/>
                </a:solidFill>
                <a:latin typeface="Calibri"/>
              </a:rPr>
              <a:t>Modélisation &amp; résultats (sur le test)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1463040" cy="508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Calibri"/>
              </a:rPr>
              <a:t>FraudAI — Détection de fraude CPAM · MSc Machine Learning EPITA 2026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Modèle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AUC-PR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AUC-ROC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Régression Logistique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0,689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0,964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0,786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97316"/>
                          </a:solidFill>
                          <a:latin typeface="Calibri"/>
                        </a:rPr>
                        <a:t>XGBoost  (champion)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97316"/>
                          </a:solidFill>
                          <a:latin typeface="Calibri"/>
                        </a:rPr>
                        <a:t>0,835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97316"/>
                          </a:solidFill>
                          <a:latin typeface="Calibri"/>
                        </a:rPr>
                        <a:t>0,973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 Champion XGBoost, sélectionné sur l'AUC-PR de validation.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•  Deux points de fonctionnement :</a:t>
            </a:r>
          </a:p>
          <a:p>
            <a:pPr lvl="1">
              <a:spcAft>
                <a:spcPts val="8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–  F1-optimal : Recall 72,6 % · Précision 94,5 % · 4 FP</a:t>
            </a:r>
          </a:p>
          <a:p>
            <a:pPr lvl="1">
              <a:spcAft>
                <a:spcPts val="8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–  Déploiement : Recall 80,0 % · Précision 83,5 % · 15 FP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 Courbes ROC / PR + matrices de confusion dans le notebook &amp; le rapport.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Calibri"/>
              </a:rPr>
              <a:t>6 · IA RESPONSABLE</a:t>
            </a:r>
          </a:p>
          <a:p>
            <a:r>
              <a:rPr sz="3000" b="1" i="0">
                <a:solidFill>
                  <a:srgbClr val="0F172A"/>
                </a:solidFill>
                <a:latin typeface="Calibri"/>
              </a:rPr>
              <a:t>Explicabilité &amp; IA responsable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1463040" cy="508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Calibri"/>
              </a:rPr>
              <a:t>FraudAI — Détection de fraude CPAM · MSc Machine Learning EPITA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SHAP : importance globale + explication LOCALE par dossier.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64748B"/>
                </a:solidFill>
                <a:latin typeface="Calibri"/>
              </a:rPr>
              <a:t>–  Ex. dossier signalé (score 92/100) → facteurs V14, V10, V12 affichés à l'agent.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L'agent voit POURQUOI un dossier est à risque → décision humaine éclairée + réponse au citoyen.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Analyse des biais : socio-économique (petits montants), temporel, opacité ACP.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64748B"/>
                </a:solidFill>
                <a:latin typeface="Calibri"/>
              </a:rPr>
              <a:t>–  Mesures correctives : audit d'équité par décile, SHAP obligatoire, réévaluation sur données récentes.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Calibri"/>
              </a:rPr>
              <a:t>7 · CONFORMITÉ</a:t>
            </a:r>
          </a:p>
          <a:p>
            <a:r>
              <a:rPr sz="3000" b="1" i="0">
                <a:solidFill>
                  <a:srgbClr val="0F172A"/>
                </a:solidFill>
                <a:latin typeface="Calibri"/>
              </a:rPr>
              <a:t>Gouvernance IA, RGPD &amp; AI 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1463040" cy="508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Calibri"/>
              </a:rPr>
              <a:t>FraudAI — Détection de fraude CPAM · MSc Machine Learning EPITA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Système à haut risque au sens de l'AI Act (Annexe III).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RGPD Art. 22 (décision non 100 % automatisée) · AI Act Art. 9 / 13 / 14 / 17.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Data lineage · qualité des données · quantification FP/FN et conséquences citoyens.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Monitoring : test KS de drift, alerte si recall −5 % sur 30 j, retraining trimestriel.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Roadmap de gouvernance sur 12 mois · audit ≥ tous les 6 mois · procédure de recours citoyen.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Calibri"/>
              </a:rPr>
              <a:t>8-10 · INDUSTRIALISATION</a:t>
            </a:r>
          </a:p>
          <a:p>
            <a:r>
              <a:rPr sz="3000" b="1" i="0">
                <a:solidFill>
                  <a:srgbClr val="0F172A"/>
                </a:solidFill>
                <a:latin typeface="Calibri"/>
              </a:rPr>
              <a:t>Démo, déploiement &amp; recommandation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1463040" cy="508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Calibri"/>
              </a:rPr>
              <a:t>FraudAI — Détection de fraude CPAM · MSc Machine Learning EPITA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Plateforme web React + Tailwind + FastAPI (au-delà d'un simple prototype Streamlit).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F172A"/>
                </a:solidFill>
                <a:latin typeface="Calibri"/>
              </a:rPr>
              <a:t>•  Le backend charge le même fraudai_model.pkl que le notebook → scores identiques.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Déployée en ligne : https://fraudai-63qw.onrender.com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•  Recommandation au comité : pilote CPAM régional, 700 k€ / 8 mois, sous 3 conditions —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64748B"/>
                </a:solidFill>
                <a:latin typeface="Calibri"/>
              </a:rPr>
              <a:t>–  réentraînement sur données réelles · audit de biais indépendant · supervision humaine garantie.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486400"/>
            <a:ext cx="10698480" cy="6400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97316"/>
                </a:solidFill>
                <a:latin typeface="Calibri"/>
              </a:rPr>
              <a:t>L'IA priorise.  L'agent décide.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